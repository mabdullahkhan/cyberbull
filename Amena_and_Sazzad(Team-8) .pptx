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9" r:id="rId14"/>
    <p:sldId id="270" r:id="rId15"/>
    <p:sldId id="267" r:id="rId16"/>
    <p:sldId id="273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BC"/>
    <a:srgbClr val="C39BE1"/>
    <a:srgbClr val="2B08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ena Khatun" userId="bb7ff606ada30572" providerId="LiveId" clId="{695FA923-CC05-4FB3-94D6-34B07CAC4D1F}"/>
    <pc:docChg chg="undo custSel modSld">
      <pc:chgData name="Amena Khatun" userId="bb7ff606ada30572" providerId="LiveId" clId="{695FA923-CC05-4FB3-94D6-34B07CAC4D1F}" dt="2025-12-08T05:25:13.116" v="157" actId="1076"/>
      <pc:docMkLst>
        <pc:docMk/>
      </pc:docMkLst>
      <pc:sldChg chg="addSp delSp modSp mod">
        <pc:chgData name="Amena Khatun" userId="bb7ff606ada30572" providerId="LiveId" clId="{695FA923-CC05-4FB3-94D6-34B07CAC4D1F}" dt="2025-12-08T05:25:13.116" v="157" actId="1076"/>
        <pc:sldMkLst>
          <pc:docMk/>
          <pc:sldMk cId="4182237619" sldId="273"/>
        </pc:sldMkLst>
        <pc:spChg chg="add del mod">
          <ac:chgData name="Amena Khatun" userId="bb7ff606ada30572" providerId="LiveId" clId="{695FA923-CC05-4FB3-94D6-34B07CAC4D1F}" dt="2025-12-08T05:16:57.744" v="7" actId="478"/>
          <ac:spMkLst>
            <pc:docMk/>
            <pc:sldMk cId="4182237619" sldId="273"/>
            <ac:spMk id="6" creationId="{E882DCCD-3C8C-441C-84E0-A11760466DCE}"/>
          </ac:spMkLst>
        </pc:spChg>
        <pc:spChg chg="add mod">
          <ac:chgData name="Amena Khatun" userId="bb7ff606ada30572" providerId="LiveId" clId="{695FA923-CC05-4FB3-94D6-34B07CAC4D1F}" dt="2025-12-08T05:25:13.116" v="157" actId="1076"/>
          <ac:spMkLst>
            <pc:docMk/>
            <pc:sldMk cId="4182237619" sldId="273"/>
            <ac:spMk id="7" creationId="{8A6EB973-1B64-4234-BB69-3A182B805D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41834-CF7A-4359-AD01-589DFCDB7E8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1A7FF-7C8A-4AB7-A515-F475097D4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66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1A7FF-7C8A-4AB7-A515-F475097D44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3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1A7FF-7C8A-4AB7-A515-F475097D44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7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1A7FF-7C8A-4AB7-A515-F475097D44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55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1A7FF-7C8A-4AB7-A515-F475097D44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19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1A7FF-7C8A-4AB7-A515-F475097D44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80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1A7FF-7C8A-4AB7-A515-F475097D44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07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98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54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3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6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04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414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33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1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9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6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CF0648C-CF0E-40DF-8F3A-D73DEC29C19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CDDCAB6-F957-4D6A-970C-38E77634BD2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4828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register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CEBDF7-951B-49E1-96E4-23B11EF88137}"/>
              </a:ext>
            </a:extLst>
          </p:cNvPr>
          <p:cNvSpPr txBox="1"/>
          <p:nvPr/>
        </p:nvSpPr>
        <p:spPr>
          <a:xfrm>
            <a:off x="1286628" y="1177494"/>
            <a:ext cx="98050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 Learning-Based Cyberbullying Detection Using Multi-Transformer Ensemble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38572-241B-4413-B19C-45AC4F0CA283}"/>
              </a:ext>
            </a:extLst>
          </p:cNvPr>
          <p:cNvSpPr txBox="1"/>
          <p:nvPr/>
        </p:nvSpPr>
        <p:spPr>
          <a:xfrm>
            <a:off x="2160002" y="3236998"/>
            <a:ext cx="308971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cap="all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Presented By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Amena Khatun</a:t>
            </a:r>
            <a:endParaRPr lang="en-US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ID: 315201011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&amp;</a:t>
            </a:r>
            <a:endParaRPr lang="en-US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600"/>
              </a:spcAft>
            </a:pPr>
            <a:r>
              <a:rPr lang="en-US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Shadat</a:t>
            </a:r>
            <a:r>
              <a:rPr lang="en-US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Mojumder</a:t>
            </a:r>
            <a:r>
              <a:rPr lang="en-US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Sazzad</a:t>
            </a:r>
            <a:endParaRPr lang="en-US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ID: 315212007</a:t>
            </a:r>
            <a:endParaRPr lang="en-US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1B0F11-4189-438C-83DC-D93438F9151D}"/>
              </a:ext>
            </a:extLst>
          </p:cNvPr>
          <p:cNvSpPr txBox="1"/>
          <p:nvPr/>
        </p:nvSpPr>
        <p:spPr>
          <a:xfrm>
            <a:off x="7240671" y="3236998"/>
            <a:ext cx="2791327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Supervised By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Tahmid</a:t>
            </a:r>
            <a:r>
              <a:rPr lang="en-US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Rahman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Lecturer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Department of CSE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Hamdard University Bangladesh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tabLst>
                <a:tab pos="2219325" algn="l"/>
                <a:tab pos="2743200" algn="ctr"/>
              </a:tabLst>
            </a:pPr>
            <a:r>
              <a:rPr lang="en-US" sz="1800" b="1" cap="all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546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319A5F-02AB-4220-98F8-D7A23C0FEB8A}"/>
              </a:ext>
            </a:extLst>
          </p:cNvPr>
          <p:cNvSpPr txBox="1"/>
          <p:nvPr/>
        </p:nvSpPr>
        <p:spPr>
          <a:xfrm>
            <a:off x="1368886" y="1818360"/>
            <a:ext cx="4498514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pPr marL="342900" indent="-342900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342900" indent="-342900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pPr marL="342900" indent="-342900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  <a:p>
            <a:pPr marL="342900" indent="-342900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342900" indent="-342900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342900" indent="-342900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indent="-342900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pPr marL="342900" indent="-342900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4FC40B-36AC-4FD4-BBF3-13DF614CA236}"/>
              </a:ext>
            </a:extLst>
          </p:cNvPr>
          <p:cNvSpPr txBox="1"/>
          <p:nvPr/>
        </p:nvSpPr>
        <p:spPr>
          <a:xfrm>
            <a:off x="1129942" y="1033246"/>
            <a:ext cx="1961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0E858-9DE6-48BA-BFED-BCC0B6B4D296}"/>
              </a:ext>
            </a:extLst>
          </p:cNvPr>
          <p:cNvSpPr txBox="1"/>
          <p:nvPr/>
        </p:nvSpPr>
        <p:spPr>
          <a:xfrm>
            <a:off x="11586709" y="6306672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3258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5EB2-238D-44DF-8560-CE0F9DA1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263" y="290872"/>
            <a:ext cx="3841474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9133D69-6AAD-4D27-8400-0E811FE5AF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32401" y="2048611"/>
            <a:ext cx="9327191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Cyberbullying on social media causes serious psychological and social harm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hurtful comments, videos, and messages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Tx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leads to significant mental, emotional, and social harm, resulting in stress, anxiety, and reduced self-confidence.</a:t>
            </a:r>
          </a:p>
          <a:p>
            <a:pPr marR="0" lvl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models fail to capture deep contextual meaning to detect cyberbullying.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accent1">
                  <a:lumMod val="60000"/>
                  <a:lumOff val="40000"/>
                </a:schemeClr>
              </a:buClr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83E6C6-C6E0-4E1A-8A7C-B8A222BB177A}"/>
              </a:ext>
            </a:extLst>
          </p:cNvPr>
          <p:cNvSpPr txBox="1"/>
          <p:nvPr/>
        </p:nvSpPr>
        <p:spPr>
          <a:xfrm>
            <a:off x="4421537" y="6290129"/>
            <a:ext cx="5559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Figure-1:Cyberbullying Detection Using Neural Network Classifier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546B19-AC7B-45AC-A3C2-B59311CF47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65" r="486" b="41309"/>
          <a:stretch/>
        </p:blipFill>
        <p:spPr>
          <a:xfrm>
            <a:off x="1698078" y="4039733"/>
            <a:ext cx="8795839" cy="20576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CA36855-F0BB-4A59-8A4F-4A7E928D6B0F}"/>
              </a:ext>
            </a:extLst>
          </p:cNvPr>
          <p:cNvSpPr txBox="1"/>
          <p:nvPr/>
        </p:nvSpPr>
        <p:spPr>
          <a:xfrm>
            <a:off x="11681302" y="6327692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75632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8A14-486F-4497-9683-B676E744C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82198"/>
            <a:ext cx="10515600" cy="9873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3FB4A07C-E03E-4CEB-ABDB-E420290AFF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7014346"/>
              </p:ext>
            </p:extLst>
          </p:nvPr>
        </p:nvGraphicFramePr>
        <p:xfrm>
          <a:off x="947521" y="1769544"/>
          <a:ext cx="10296955" cy="4911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648">
                  <a:extLst>
                    <a:ext uri="{9D8B030D-6E8A-4147-A177-3AD203B41FA5}">
                      <a16:colId xmlns:a16="http://schemas.microsoft.com/office/drawing/2014/main" val="4248169534"/>
                    </a:ext>
                  </a:extLst>
                </a:gridCol>
                <a:gridCol w="2849202">
                  <a:extLst>
                    <a:ext uri="{9D8B030D-6E8A-4147-A177-3AD203B41FA5}">
                      <a16:colId xmlns:a16="http://schemas.microsoft.com/office/drawing/2014/main" val="3841584344"/>
                    </a:ext>
                  </a:extLst>
                </a:gridCol>
                <a:gridCol w="620563">
                  <a:extLst>
                    <a:ext uri="{9D8B030D-6E8A-4147-A177-3AD203B41FA5}">
                      <a16:colId xmlns:a16="http://schemas.microsoft.com/office/drawing/2014/main" val="778617010"/>
                    </a:ext>
                  </a:extLst>
                </a:gridCol>
                <a:gridCol w="2055112">
                  <a:extLst>
                    <a:ext uri="{9D8B030D-6E8A-4147-A177-3AD203B41FA5}">
                      <a16:colId xmlns:a16="http://schemas.microsoft.com/office/drawing/2014/main" val="3644386267"/>
                    </a:ext>
                  </a:extLst>
                </a:gridCol>
                <a:gridCol w="2049528">
                  <a:extLst>
                    <a:ext uri="{9D8B030D-6E8A-4147-A177-3AD203B41FA5}">
                      <a16:colId xmlns:a16="http://schemas.microsoft.com/office/drawing/2014/main" val="125421917"/>
                    </a:ext>
                  </a:extLst>
                </a:gridCol>
                <a:gridCol w="2160902">
                  <a:extLst>
                    <a:ext uri="{9D8B030D-6E8A-4147-A177-3AD203B41FA5}">
                      <a16:colId xmlns:a16="http://schemas.microsoft.com/office/drawing/2014/main" val="922243055"/>
                    </a:ext>
                  </a:extLst>
                </a:gridCol>
              </a:tblGrid>
              <a:tr h="37328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555531"/>
                  </a:ext>
                </a:extLst>
              </a:tr>
              <a:tr h="133759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Cyberbullying Detection on Social Media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(Naïve Bayes , Logistic Regression, SVM, Random Forest)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(Facebook – 87.01%),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(Twitter – 78.62%).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Dataset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imbalance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misunderstanding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878586"/>
                  </a:ext>
                </a:extLst>
              </a:tr>
              <a:tr h="145004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Algorithms for Cyber-Bulling Detection in Social Media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Sequential Model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Implemented in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(TensorFlow)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+Sigmoid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activation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 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Instagram: 95.49%,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Facebook: 91.42%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Text-only, English dataset, imbalanced data.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Limited context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real-time or explainable 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765890"/>
                  </a:ext>
                </a:extLst>
              </a:tr>
              <a:tr h="14124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Assessing Text Classification Methods for Cyberbullying Detection on Social Media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XLNet</a:t>
                      </a:r>
                      <a:endParaRPr lang="sv-SE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BERT: 94 %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93 %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XLNet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93%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Heavily dependent on labeled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effective on small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987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F752A42-809F-4996-9320-14D51DEE39EE}"/>
              </a:ext>
            </a:extLst>
          </p:cNvPr>
          <p:cNvSpPr txBox="1"/>
          <p:nvPr/>
        </p:nvSpPr>
        <p:spPr>
          <a:xfrm>
            <a:off x="11681302" y="6308525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26127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4BDD-55C5-43B8-946A-786BAE2F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694" y="5987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548916-95F0-4B69-A529-F24CC79307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8036" y="2201686"/>
            <a:ext cx="8795928" cy="3649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single transformer model can not achieve the higher accuracy than the multi transformer ensemble model.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Collecting a larger dataset is challenging, and imbalanced data can reduce recall and hurt the model’s ability to generalize well.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LSTM and RNN are powerful for sequential modeling but often function as black-boxes, lacking faithful interpretability and structured attribution of hidden-state dynamics.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86F5C-CEE2-4C57-A147-A5965628163D}"/>
              </a:ext>
            </a:extLst>
          </p:cNvPr>
          <p:cNvSpPr txBox="1"/>
          <p:nvPr/>
        </p:nvSpPr>
        <p:spPr>
          <a:xfrm>
            <a:off x="11681302" y="6317182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314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E12A-6649-4E32-9F38-E1A0149B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DBECF-8BAE-4393-9874-69E67556D5DD}"/>
              </a:ext>
            </a:extLst>
          </p:cNvPr>
          <p:cNvSpPr txBox="1"/>
          <p:nvPr/>
        </p:nvSpPr>
        <p:spPr>
          <a:xfrm>
            <a:off x="1745698" y="3012688"/>
            <a:ext cx="8700603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robust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multi-transformer ensemble framework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overcomes limitations of current models by achieving superior contextual understanding by combining deep embeddings and ensemble learning for better accuracy and generalization.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29D848-A3C2-4D9A-92B1-460561AC4D4E}"/>
              </a:ext>
            </a:extLst>
          </p:cNvPr>
          <p:cNvSpPr txBox="1"/>
          <p:nvPr/>
        </p:nvSpPr>
        <p:spPr>
          <a:xfrm>
            <a:off x="11610808" y="6285651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18071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AE490-6330-4133-B756-83F287D8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182" y="492961"/>
            <a:ext cx="11029616" cy="101247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C9DAB-4DC3-4562-9D73-BF5957ECA0F7}"/>
              </a:ext>
            </a:extLst>
          </p:cNvPr>
          <p:cNvSpPr txBox="1"/>
          <p:nvPr/>
        </p:nvSpPr>
        <p:spPr>
          <a:xfrm>
            <a:off x="1435876" y="2385663"/>
            <a:ext cx="1017805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model performs slightly lower, whereas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multi-transformer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ensemble model achieves better accuracy, especially for complex, sarcastic or coded language.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Achieved the highest accuracy by using this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BERT-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Ensemble.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utilized balancing techniques on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47K+ dataset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address imbalance, securing high Recall and robust generalization. 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user-friendly interface for actionable insights from the system.</a:t>
            </a:r>
          </a:p>
          <a:p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FD3EEE-419C-4F81-8CC6-25010E5047F4}"/>
              </a:ext>
            </a:extLst>
          </p:cNvPr>
          <p:cNvSpPr txBox="1"/>
          <p:nvPr/>
        </p:nvSpPr>
        <p:spPr>
          <a:xfrm>
            <a:off x="11613931" y="6143597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54879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AA3C-203F-4CE4-9EA1-A7CA56625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99201"/>
            <a:ext cx="11029616" cy="1020766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6E98E-335A-4542-9E64-1FB0587DF3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82"/>
          <a:stretch/>
        </p:blipFill>
        <p:spPr>
          <a:xfrm>
            <a:off x="6943598" y="2150910"/>
            <a:ext cx="5154654" cy="3276804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09E4734-4DE9-46E1-ABBD-94E450163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139971"/>
              </p:ext>
            </p:extLst>
          </p:nvPr>
        </p:nvGraphicFramePr>
        <p:xfrm>
          <a:off x="851338" y="2512708"/>
          <a:ext cx="6205550" cy="376220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42481">
                  <a:extLst>
                    <a:ext uri="{9D8B030D-6E8A-4147-A177-3AD203B41FA5}">
                      <a16:colId xmlns:a16="http://schemas.microsoft.com/office/drawing/2014/main" val="4030694902"/>
                    </a:ext>
                  </a:extLst>
                </a:gridCol>
                <a:gridCol w="4263069">
                  <a:extLst>
                    <a:ext uri="{9D8B030D-6E8A-4147-A177-3AD203B41FA5}">
                      <a16:colId xmlns:a16="http://schemas.microsoft.com/office/drawing/2014/main" val="2538905146"/>
                    </a:ext>
                  </a:extLst>
                </a:gridCol>
              </a:tblGrid>
              <a:tr h="53521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793058"/>
                  </a:ext>
                </a:extLst>
              </a:tr>
              <a:tr h="535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47,656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1574476"/>
                  </a:ext>
                </a:extLst>
              </a:tr>
              <a:tr h="535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Religion, Age, Ethnicity, Gender, Not Cyberbullying, Other Cyberbullying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227157"/>
                  </a:ext>
                </a:extLst>
              </a:tr>
              <a:tr h="535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media platforms (Twitter, Facebook)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127079"/>
                  </a:ext>
                </a:extLst>
              </a:tr>
              <a:tr h="4631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(English)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388438"/>
                  </a:ext>
                </a:extLst>
              </a:tr>
              <a:tr h="535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Text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136 characters / 23.7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143735"/>
                  </a:ext>
                </a:extLst>
              </a:tr>
              <a:tr h="5216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cyberbullying categories; Suitable for analysis and modeling.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980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B6CE609-0552-4E65-B72C-5A9BFE3A4B9E}"/>
              </a:ext>
            </a:extLst>
          </p:cNvPr>
          <p:cNvSpPr txBox="1"/>
          <p:nvPr/>
        </p:nvSpPr>
        <p:spPr>
          <a:xfrm>
            <a:off x="7544250" y="5558657"/>
            <a:ext cx="3496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Distribution of Tweets in the Dataset Classes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491D99-1769-43A4-AD4F-B270D5B1ACDC}"/>
              </a:ext>
            </a:extLst>
          </p:cNvPr>
          <p:cNvSpPr txBox="1"/>
          <p:nvPr/>
        </p:nvSpPr>
        <p:spPr>
          <a:xfrm flipH="1">
            <a:off x="899942" y="1731836"/>
            <a:ext cx="551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endParaRPr lang="en-US" b="0" i="0" dirty="0">
              <a:solidFill>
                <a:srgbClr val="1B1C1D"/>
              </a:solidFill>
              <a:effectLst/>
              <a:latin typeface="Google Sans Flex"/>
            </a:endParaRPr>
          </a:p>
          <a:p>
            <a:pPr algn="l" rtl="0"/>
            <a:r>
              <a:rPr lang="en-US" sz="1600" i="0" dirty="0"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Table-2:Dataset Description and Class Distribution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D94E41-F18E-40D8-83D9-5E2B0A01B408}"/>
              </a:ext>
            </a:extLst>
          </p:cNvPr>
          <p:cNvSpPr txBox="1"/>
          <p:nvPr/>
        </p:nvSpPr>
        <p:spPr>
          <a:xfrm>
            <a:off x="11587554" y="6193513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13114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C5F4371-DC00-4758-BEEB-2A4A7870D6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69" t="1459" r="19435" b="2403"/>
          <a:stretch/>
        </p:blipFill>
        <p:spPr>
          <a:xfrm>
            <a:off x="1794637" y="1843943"/>
            <a:ext cx="7256229" cy="481269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C09F4D-C3BC-4C20-A26E-889D24EF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999201"/>
            <a:ext cx="11029616" cy="10138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103E4E-922C-45AF-B93C-AF3F320B8F93}"/>
              </a:ext>
            </a:extLst>
          </p:cNvPr>
          <p:cNvSpPr txBox="1"/>
          <p:nvPr/>
        </p:nvSpPr>
        <p:spPr>
          <a:xfrm>
            <a:off x="1326539" y="6236766"/>
            <a:ext cx="3037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Figure:Proposed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Workflow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36A5A-A7EC-4898-AEF5-29E4743F0141}"/>
              </a:ext>
            </a:extLst>
          </p:cNvPr>
          <p:cNvSpPr txBox="1"/>
          <p:nvPr/>
        </p:nvSpPr>
        <p:spPr>
          <a:xfrm>
            <a:off x="11681302" y="6307973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79180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9F4D-C3BC-4C20-A26E-889D24EF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999201"/>
            <a:ext cx="11029616" cy="10138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E34727-6E77-4FD8-A0D9-B2F2D71D6FF2}"/>
              </a:ext>
            </a:extLst>
          </p:cNvPr>
          <p:cNvSpPr txBox="1"/>
          <p:nvPr/>
        </p:nvSpPr>
        <p:spPr>
          <a:xfrm>
            <a:off x="1906023" y="2002491"/>
            <a:ext cx="63787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Step-1:Data Acquisition &amp; Preprocessing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&amp; Normalization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Step-2:Model Training and Fine-Tuning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Split(Train 80%, Test 20%)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 text for BERT &amp;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&amp; fine-tune BERT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individually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Step-3: Ensemble Models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probability scores from BERT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soft voting:</a:t>
            </a:r>
          </a:p>
          <a:p>
            <a:pPr lvl="3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pl-P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= w1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pl-P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+ w2*RoBERTa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Bully vs Non-Bully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Step-4:Evaluation &amp; Deployment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with Accuracy, Precision, Recall,</a:t>
            </a:r>
          </a:p>
          <a:p>
            <a:pPr lvl="3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F1-score, Confusion Matrix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model for real-time social media monitoring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42281D-9C90-4AED-A5AE-44213907590E}"/>
              </a:ext>
            </a:extLst>
          </p:cNvPr>
          <p:cNvSpPr txBox="1"/>
          <p:nvPr/>
        </p:nvSpPr>
        <p:spPr>
          <a:xfrm>
            <a:off x="11610807" y="6357529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2335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1BD7-5237-4420-8EC2-591909619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40" y="999201"/>
            <a:ext cx="11029616" cy="10138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2F5F323-3F33-41C4-9916-5CCB95EE8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249534"/>
              </p:ext>
            </p:extLst>
          </p:nvPr>
        </p:nvGraphicFramePr>
        <p:xfrm>
          <a:off x="643465" y="2520081"/>
          <a:ext cx="7772400" cy="430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059">
                  <a:extLst>
                    <a:ext uri="{9D8B030D-6E8A-4147-A177-3AD203B41FA5}">
                      <a16:colId xmlns:a16="http://schemas.microsoft.com/office/drawing/2014/main" val="2786751169"/>
                    </a:ext>
                  </a:extLst>
                </a:gridCol>
                <a:gridCol w="1782059">
                  <a:extLst>
                    <a:ext uri="{9D8B030D-6E8A-4147-A177-3AD203B41FA5}">
                      <a16:colId xmlns:a16="http://schemas.microsoft.com/office/drawing/2014/main" val="245705815"/>
                    </a:ext>
                  </a:extLst>
                </a:gridCol>
                <a:gridCol w="1782059">
                  <a:extLst>
                    <a:ext uri="{9D8B030D-6E8A-4147-A177-3AD203B41FA5}">
                      <a16:colId xmlns:a16="http://schemas.microsoft.com/office/drawing/2014/main" val="2661479306"/>
                    </a:ext>
                  </a:extLst>
                </a:gridCol>
                <a:gridCol w="1269140">
                  <a:extLst>
                    <a:ext uri="{9D8B030D-6E8A-4147-A177-3AD203B41FA5}">
                      <a16:colId xmlns:a16="http://schemas.microsoft.com/office/drawing/2014/main" val="1813411215"/>
                    </a:ext>
                  </a:extLst>
                </a:gridCol>
                <a:gridCol w="1157083">
                  <a:extLst>
                    <a:ext uri="{9D8B030D-6E8A-4147-A177-3AD203B41FA5}">
                      <a16:colId xmlns:a16="http://schemas.microsoft.com/office/drawing/2014/main" val="3135538718"/>
                    </a:ext>
                  </a:extLst>
                </a:gridCol>
              </a:tblGrid>
              <a:tr h="4674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Method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016220"/>
                  </a:ext>
                </a:extLst>
              </a:tr>
              <a:tr h="4674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948557"/>
                  </a:ext>
                </a:extLst>
              </a:tr>
              <a:tr h="4674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987191"/>
                  </a:ext>
                </a:extLst>
              </a:tr>
              <a:tr h="4674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029974"/>
                  </a:ext>
                </a:extLst>
              </a:tr>
              <a:tr h="4674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Naive Bayes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8329187"/>
                  </a:ext>
                </a:extLst>
              </a:tr>
              <a:tr h="4674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009645"/>
                  </a:ext>
                </a:extLst>
              </a:tr>
              <a:tr h="4674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6007035"/>
                  </a:ext>
                </a:extLst>
              </a:tr>
              <a:tr h="4674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867403"/>
                  </a:ext>
                </a:extLst>
              </a:tr>
              <a:tr h="56163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3FB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39876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8AAAD5D-9631-4176-ACD3-FFBF9A91F96B}"/>
              </a:ext>
            </a:extLst>
          </p:cNvPr>
          <p:cNvSpPr txBox="1"/>
          <p:nvPr/>
        </p:nvSpPr>
        <p:spPr>
          <a:xfrm>
            <a:off x="863599" y="1928332"/>
            <a:ext cx="75522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-3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:Comparison between proposed model and previous studies in terms of accuracy results.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37681D-D808-47BD-8A6C-6AE3B7DE1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466" y="2513107"/>
            <a:ext cx="3322821" cy="33402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23A8AB-6FBD-4E61-9D7E-3A03D192A4F9}"/>
              </a:ext>
            </a:extLst>
          </p:cNvPr>
          <p:cNvSpPr txBox="1"/>
          <p:nvPr/>
        </p:nvSpPr>
        <p:spPr>
          <a:xfrm>
            <a:off x="8816227" y="5877557"/>
            <a:ext cx="3216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Comparison. of Models Accuracy Performance.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69CD72-4FBD-4941-A418-AD565852D9EA}"/>
              </a:ext>
            </a:extLst>
          </p:cNvPr>
          <p:cNvSpPr txBox="1"/>
          <p:nvPr/>
        </p:nvSpPr>
        <p:spPr>
          <a:xfrm>
            <a:off x="11681302" y="6255671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09248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8F30-7F44-4DAA-9065-69EA1772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90" y="837282"/>
            <a:ext cx="11029616" cy="625285"/>
          </a:xfrm>
        </p:spPr>
        <p:txBody>
          <a:bodyPr>
            <a:noAutofit/>
          </a:bodyPr>
          <a:lstStyle/>
          <a:p>
            <a:pPr marL="342900" indent="-342900" algn="ctr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F4897-0910-4C70-B442-3421461B5B25}"/>
              </a:ext>
            </a:extLst>
          </p:cNvPr>
          <p:cNvSpPr txBox="1"/>
          <p:nvPr/>
        </p:nvSpPr>
        <p:spPr>
          <a:xfrm>
            <a:off x="1426903" y="2025592"/>
            <a:ext cx="8359086" cy="4203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285750" indent="-285750">
              <a:lnSpc>
                <a:spcPct val="150000"/>
              </a:lnSpc>
              <a:buClr>
                <a:srgbClr val="003FB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BERT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ensemble shows strong cyberbullying detection performance.</a:t>
            </a:r>
          </a:p>
          <a:p>
            <a:pPr marL="285750" indent="-285750">
              <a:lnSpc>
                <a:spcPct val="150000"/>
              </a:lnSpc>
              <a:buClr>
                <a:srgbClr val="003FB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real-time, explainable predictions.</a:t>
            </a:r>
          </a:p>
          <a:p>
            <a:pPr marL="285750" indent="-285750">
              <a:lnSpc>
                <a:spcPct val="150000"/>
              </a:lnSpc>
              <a:buClr>
                <a:srgbClr val="003FB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scalable for large social platforms, improving online safety.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</a:t>
            </a:r>
          </a:p>
          <a:p>
            <a:pPr marL="285750" indent="-285750">
              <a:lnSpc>
                <a:spcPct val="150000"/>
              </a:lnSpc>
              <a:buClr>
                <a:srgbClr val="003FB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multimodal data (images/videos)</a:t>
            </a:r>
          </a:p>
          <a:p>
            <a:pPr marL="285750" indent="-285750">
              <a:lnSpc>
                <a:spcPct val="150000"/>
              </a:lnSpc>
              <a:buClr>
                <a:srgbClr val="003FB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Fine-tune multilingual transformers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XLM-R) for cross-language and code-mixed text.</a:t>
            </a:r>
          </a:p>
          <a:p>
            <a:pPr marL="285750" indent="-285750">
              <a:lnSpc>
                <a:spcPct val="150000"/>
              </a:lnSpc>
              <a:buClr>
                <a:srgbClr val="003FB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social network analysis for better context.</a:t>
            </a:r>
          </a:p>
          <a:p>
            <a:pPr marL="285750" indent="-285750">
              <a:lnSpc>
                <a:spcPct val="150000"/>
              </a:lnSpc>
              <a:buClr>
                <a:srgbClr val="003FB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real-time performance and deployment efficiency.</a:t>
            </a:r>
          </a:p>
          <a:p>
            <a:pPr marL="285750" indent="-285750">
              <a:lnSpc>
                <a:spcPct val="150000"/>
              </a:lnSpc>
              <a:buClr>
                <a:srgbClr val="003FB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adaptive learning to handle evolving language.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FECA9F-0C2F-4A6E-8FA6-18446D20B0FD}"/>
              </a:ext>
            </a:extLst>
          </p:cNvPr>
          <p:cNvSpPr txBox="1"/>
          <p:nvPr/>
        </p:nvSpPr>
        <p:spPr>
          <a:xfrm>
            <a:off x="11565688" y="6228666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353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F7AA5-89C1-4139-894D-491912286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26533"/>
            <a:ext cx="11029616" cy="80155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19CAC-5F7A-4BDD-BB9B-F38032AFEFA5}"/>
              </a:ext>
            </a:extLst>
          </p:cNvPr>
          <p:cNvSpPr txBox="1"/>
          <p:nvPr/>
        </p:nvSpPr>
        <p:spPr>
          <a:xfrm>
            <a:off x="961055" y="1964353"/>
            <a:ext cx="1064975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M. M. Islam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“Cyberbullying detection on social media platform: Machine learning based approach,”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[Journal Name]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M. H.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Obaida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Elkaffas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K.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Guirguis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“Deep learning algorithms for cyber-bullying detection in social media platforms,”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65321–65335, May 2024,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10.1109/ACCESS.2024.3406595.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[3].A. 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Philipo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Sarwatt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Ding, 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Daneshmand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Ning,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“Assessing Text Classification Methods for Cyberbullying Detection on Social Media Platforms,”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IEEE Trans. Inf. Forensics Security, vol. 20, pp. 7602–7616, Jul. 2025,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10.1109/TIFS.2025.3588728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 F. R. Sayed, E. H.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Elnashar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F.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,“Cyberbullying detection in social media using natural language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processing,”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Scientific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African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—, no. —, e02713, 2025,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10.1016/j.sciaf.2025.e02713.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CA41B-E374-4BA3-AF4F-EF0CB8CB626B}"/>
              </a:ext>
            </a:extLst>
          </p:cNvPr>
          <p:cNvSpPr txBox="1"/>
          <p:nvPr/>
        </p:nvSpPr>
        <p:spPr>
          <a:xfrm>
            <a:off x="11610808" y="6231467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5442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495F99-7236-4B97-B601-69183FE81C09}"/>
              </a:ext>
            </a:extLst>
          </p:cNvPr>
          <p:cNvSpPr txBox="1"/>
          <p:nvPr/>
        </p:nvSpPr>
        <p:spPr>
          <a:xfrm>
            <a:off x="3569867" y="2767280"/>
            <a:ext cx="6032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31DA3-7A2F-409C-BDC0-14B5137F8BD7}"/>
              </a:ext>
            </a:extLst>
          </p:cNvPr>
          <p:cNvSpPr txBox="1"/>
          <p:nvPr/>
        </p:nvSpPr>
        <p:spPr>
          <a:xfrm>
            <a:off x="11550483" y="6306603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19766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E12A-6649-4E32-9F38-E1A0149B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and Objectives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DBECF-8BAE-4393-9874-69E67556D5DD}"/>
              </a:ext>
            </a:extLst>
          </p:cNvPr>
          <p:cNvSpPr txBox="1"/>
          <p:nvPr/>
        </p:nvSpPr>
        <p:spPr>
          <a:xfrm>
            <a:off x="1864816" y="2409737"/>
            <a:ext cx="7482969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advanced Transformer-based models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BERT/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rich semantic understanding.</a:t>
            </a:r>
          </a:p>
          <a:p>
            <a:pPr marL="285750" indent="-285750" algn="just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§"/>
            </a:pPr>
            <a:r>
              <a:rPr lang="en-US" sz="1600" i="0" dirty="0">
                <a:solidFill>
                  <a:srgbClr val="1B1C1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 ensemble fusion techniques to maximize accuracy and minimize prediction variance.</a:t>
            </a:r>
          </a:p>
          <a:p>
            <a:pPr marL="285750" indent="-285750" algn="just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balanced, diverse dataset to mitigate bias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small or limited datasets..</a:t>
            </a:r>
          </a:p>
          <a:p>
            <a:pPr marL="285750" indent="-285750" algn="just">
              <a:lnSpc>
                <a:spcPct val="150000"/>
              </a:lnSpc>
              <a:buClr>
                <a:srgbClr val="2B08AC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protection through alerts, content warnings, and automatic filtering of harmful posts.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11AB69-7345-4368-88C4-299BB7D0E582}"/>
              </a:ext>
            </a:extLst>
          </p:cNvPr>
          <p:cNvSpPr txBox="1"/>
          <p:nvPr/>
        </p:nvSpPr>
        <p:spPr>
          <a:xfrm>
            <a:off x="11550483" y="6233099"/>
            <a:ext cx="10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60609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A739-C539-421B-B428-B2F8EB9D0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4" y="492301"/>
            <a:ext cx="11029616" cy="101380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5E2A43-CABA-4856-B256-700222D25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944416"/>
            <a:ext cx="7136524" cy="4460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6EB973-1B64-4234-BB69-3A182B805DB1}"/>
              </a:ext>
            </a:extLst>
          </p:cNvPr>
          <p:cNvSpPr txBox="1"/>
          <p:nvPr/>
        </p:nvSpPr>
        <p:spPr>
          <a:xfrm>
            <a:off x="0" y="3774470"/>
            <a:ext cx="26906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linkClick r:id="rId3"/>
              </a:rPr>
              <a:t>Our Interface link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82237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1D1E-C3BC-4750-910D-D2A1E246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85" y="449908"/>
            <a:ext cx="11029616" cy="101380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278448-E539-4D64-BD12-3A9D4C91C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745" y="2159875"/>
            <a:ext cx="7041931" cy="440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5786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31067</TotalTime>
  <Words>1083</Words>
  <Application>Microsoft Office PowerPoint</Application>
  <PresentationFormat>Widescreen</PresentationFormat>
  <Paragraphs>220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Gill Sans MT</vt:lpstr>
      <vt:lpstr>Google Sans Flex</vt:lpstr>
      <vt:lpstr>Times New Roman</vt:lpstr>
      <vt:lpstr>Wingdings</vt:lpstr>
      <vt:lpstr>Wingdings 2</vt:lpstr>
      <vt:lpstr>Dividend</vt:lpstr>
      <vt:lpstr>PowerPoint Presentation</vt:lpstr>
      <vt:lpstr>PowerPoint Presentation</vt:lpstr>
      <vt:lpstr>Introduction</vt:lpstr>
      <vt:lpstr>Literature Review  </vt:lpstr>
      <vt:lpstr>Research Gap </vt:lpstr>
      <vt:lpstr>Research Objectives </vt:lpstr>
      <vt:lpstr>Contributions</vt:lpstr>
      <vt:lpstr>Dataset Description </vt:lpstr>
      <vt:lpstr>Proposed Methodology </vt:lpstr>
      <vt:lpstr>Proposed Methodology </vt:lpstr>
      <vt:lpstr>Results </vt:lpstr>
      <vt:lpstr>Conclusion and Future work</vt:lpstr>
      <vt:lpstr>References</vt:lpstr>
      <vt:lpstr>PowerPoint Presentation</vt:lpstr>
      <vt:lpstr>Aims and Objectives </vt:lpstr>
      <vt:lpstr>Interface</vt:lpstr>
      <vt:lpstr>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Amena Khatun</dc:creator>
  <cp:lastModifiedBy>Amena Khatun</cp:lastModifiedBy>
  <cp:revision>156</cp:revision>
  <dcterms:created xsi:type="dcterms:W3CDTF">2025-11-11T06:13:12Z</dcterms:created>
  <dcterms:modified xsi:type="dcterms:W3CDTF">2025-12-08T05:28:23Z</dcterms:modified>
</cp:coreProperties>
</file>